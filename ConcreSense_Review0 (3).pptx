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2945E-0C98-4608-9897-B8CCB16FA10D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B8D3E-174C-45A5-963C-6A840E4BE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191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6EAE-9709-49E3-9D09-DF49288CBEB5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CE4F2295-6AEF-4787-F327-B5B3339595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1D313A2-745B-DE31-A14C-6DC7B4B06C71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34649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F508EA8F-B4E2-3C42-A5CC-2F45DACAEA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BAA8F0E-F904-0C29-7E58-1EA8317F934E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76699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B4B4BD06-C707-4ECB-B568-73D1461E3867}" type="datetime1">
              <a:rPr lang="en-IN" smtClean="0"/>
              <a:pPr/>
              <a:t>22-06-2026</a:t>
            </a:fld>
            <a:endParaRPr lang="en-IN" b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75FB8137-F6AA-4E86-959E-1B3561B3F039}" type="slidenum">
              <a:rPr lang="en-IN" smtClean="0"/>
              <a:pPr/>
              <a:t>‹#›</a:t>
            </a:fld>
            <a:endParaRPr lang="en-IN" b="1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9B24C2D6-F41B-05C4-DCA3-B404E0D4E3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43C5703-7AC8-2BA1-393D-CD09AC701454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7844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27FF-BB99-4261-B1FD-3F822A477C71}" type="datetime1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30A23F64-2680-225F-FB9F-D400C31927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002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1C89-564E-4D4B-B799-5EE666708D20}" type="datetime1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2" descr="Startup 20">
            <a:extLst>
              <a:ext uri="{FF2B5EF4-FFF2-40B4-BE49-F238E27FC236}">
                <a16:creationId xmlns:a16="http://schemas.microsoft.com/office/drawing/2014/main" id="{DBD96398-B0AB-F6F6-A8C3-8504654B8A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945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F782-7CD5-4FC8-B84E-61B3C475D8E0}" type="datetime1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96D74072-F32F-6E6F-2F24-CABF556F60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8F2886BC-5857-A5E2-083E-FBF0705B55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2889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116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2139-4228-4E1E-AE34-D1AC707B480F}" type="datetime1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2" descr="Startup 20">
            <a:extLst>
              <a:ext uri="{FF2B5EF4-FFF2-40B4-BE49-F238E27FC236}">
                <a16:creationId xmlns:a16="http://schemas.microsoft.com/office/drawing/2014/main" id="{303214BA-6D8A-0649-717D-0809813905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6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37A5C-3DAF-4449-AA2B-8CCFC542C1C4}" type="datetime1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8528EC7E-42E1-E14A-977A-7187EE77BF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601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77D4-720D-4278-A961-3910D5FF5A20}" type="datetime1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231E13D4-D8BF-FF2C-E90B-3AA52F08EE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66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BA1C-C95D-4B1D-9753-55BC791973F6}" type="datetime1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79ABC2DC-8FE1-32D1-AB55-46D5EB11C5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866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21CF-FD19-4CFD-9A6E-81D4C4756A2F}" type="datetime1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775BEE5D-F035-7E6F-5722-CC1C455EDE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73741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A2292-8BE8-41D2-A32D-BB37E572F7D6}" type="datetime1">
              <a:rPr lang="en-IN" smtClean="0"/>
              <a:pPr/>
              <a:t>22-06-2026</a:t>
            </a:fld>
            <a:endParaRPr lang="en-IN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B8137-F6AA-4E86-959E-1B3561B3F039}" type="slidenum">
              <a:rPr lang="en-IN" smtClean="0"/>
              <a:pPr/>
              <a:t>‹#›</a:t>
            </a:fld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6017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1822" y="2130037"/>
            <a:ext cx="9144000" cy="3305836"/>
          </a:xfrm>
        </p:spPr>
        <p:txBody>
          <a:bodyPr>
            <a:normAutofit/>
          </a:bodyPr>
          <a:lstStyle/>
          <a:p>
            <a:r>
              <a:rPr lang="en-US" sz="2800" dirty="0"/>
              <a:t>Department of Computer Science and Engineering</a:t>
            </a:r>
          </a:p>
          <a:p>
            <a:r>
              <a:rPr lang="en-US" sz="2800" dirty="0">
                <a:solidFill>
                  <a:srgbClr val="FF0000"/>
                </a:solidFill>
              </a:rPr>
              <a:t xml:space="preserve">EMBEDDED PROGRAMMING  </a:t>
            </a:r>
          </a:p>
          <a:p>
            <a:endParaRPr lang="en-US" sz="3600" dirty="0">
              <a:solidFill>
                <a:srgbClr val="FF0000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826F17E-A98B-B6DC-057C-8546ECF7AE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379" y="159347"/>
            <a:ext cx="8991600" cy="18505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49C6C6-75B3-A59D-487F-F67AC5CE7967}"/>
              </a:ext>
            </a:extLst>
          </p:cNvPr>
          <p:cNvSpPr txBox="1"/>
          <p:nvPr/>
        </p:nvSpPr>
        <p:spPr>
          <a:xfrm>
            <a:off x="4498260" y="3150657"/>
            <a:ext cx="6578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ConcreSense: IoT-Based Concrete Quality Verification System</a:t>
            </a:r>
            <a:endParaRPr lang="en-IN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AFE3F3CE-0A38-5B04-A5E0-FC8516908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9571" y="4415141"/>
            <a:ext cx="4437062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[Faculty Name], Dept. of CSE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A147CFF-E830-BA67-DABF-02B8AF3A1693}"/>
              </a:ext>
            </a:extLst>
          </p:cNvPr>
          <p:cNvSpPr txBox="1">
            <a:spLocks/>
          </p:cNvSpPr>
          <p:nvPr/>
        </p:nvSpPr>
        <p:spPr>
          <a:xfrm>
            <a:off x="665974" y="4415141"/>
            <a:ext cx="4562669" cy="23875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by: [Student Name(s)] | [Roll No.] | [Year &amp; Section]</a:t>
            </a:r>
            <a:endParaRPr lang="en-US" sz="2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ct val="20000"/>
              </a:spcBef>
              <a:defRPr/>
            </a:pPr>
            <a:endParaRPr lang="en-US" sz="20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ct val="20000"/>
              </a:spcBef>
              <a:defRPr/>
            </a:pPr>
            <a:endParaRPr lang="en-US" sz="2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ct val="20000"/>
              </a:spcBef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33C155FE-8E1F-5493-5BFD-9E9E1B54EE9F}"/>
              </a:ext>
            </a:extLst>
          </p:cNvPr>
          <p:cNvSpPr txBox="1">
            <a:spLocks/>
          </p:cNvSpPr>
          <p:nvPr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1999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EDFB-9D67-1544-8DCF-2EA05B7BE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783" y="0"/>
            <a:ext cx="10515600" cy="1009651"/>
          </a:xfrm>
        </p:spPr>
        <p:txBody>
          <a:bodyPr/>
          <a:lstStyle/>
          <a:p>
            <a:r>
              <a:rPr lang="en-IN" dirty="0"/>
              <a:t xml:space="preserve"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9BDFD-C889-2BA2-AF99-5AE9671A1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8136"/>
            <a:ext cx="10515600" cy="4951278"/>
          </a:xfrm>
        </p:spPr>
        <p:txBody>
          <a:bodyPr/>
          <a:lstStyle/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Problem Statement 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Project Description 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Scope of the Proposed work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Hardware Component 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Design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00C09-79CD-D5FF-4B1E-B6109C06D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325EE-5BC8-4C2B-A4D7-1023B1CB6184}" type="datetime1">
              <a:rPr lang="en-IN" sz="1600" b="1" smtClean="0"/>
              <a:t>22-06-2026</a:t>
            </a:fld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8C0C3-315E-F140-5B03-3CA67C3F3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z="1800" b="1" smtClean="0"/>
              <a:t>2</a:t>
            </a:fld>
            <a:endParaRPr lang="en-IN" sz="1800" b="1"/>
          </a:p>
        </p:txBody>
      </p:sp>
    </p:spTree>
    <p:extLst>
      <p:ext uri="{BB962C8B-B14F-4D97-AF65-F5344CB8AC3E}">
        <p14:creationId xmlns:p14="http://schemas.microsoft.com/office/powerpoint/2010/main" val="2391402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A21A-54F0-4716-29D9-ECF7E9AF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2BC16-1F6B-7190-668A-D7B311670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Background</a:t>
            </a:r>
          </a:p>
          <a:p>
            <a:r>
              <a:rPr lang="en-IN" sz="1600" dirty="0"/>
              <a:t>Concrete is the most widely used construction material worldwide, forming the backbone of infrastructure projects ranging from bridges and dams to residential buildings.</a:t>
            </a:r>
          </a:p>
          <a:p>
            <a:r>
              <a:rPr lang="en-IN" sz="1800" b="1" dirty="0"/>
              <a:t>The Problem</a:t>
            </a:r>
          </a:p>
          <a:p>
            <a:r>
              <a:rPr lang="en-IN" sz="1600" dirty="0"/>
              <a:t>Material fraud involving substandard or adulterated concrete is a persistent challenge in construction, leading to structural failures and safety hazards. Traditional quality testing methods are lab-based, slow, and easy to manipulate.</a:t>
            </a:r>
          </a:p>
          <a:p>
            <a:r>
              <a:rPr lang="en-IN" sz="1800" b="1" dirty="0"/>
              <a:t>Our Solution: ConcreSense</a:t>
            </a:r>
          </a:p>
          <a:p>
            <a:r>
              <a:rPr lang="en-IN" sz="1600" dirty="0"/>
              <a:t>ConcreSense is a low-cost, portable IoT device powered by the ESP32 microcontroller. It uses an array of sensors and an on-device TinyML model to instantly assess concrete quality at the construction site, GPS-tag each test, and push results to a secure cloud dashboard — making material fraud detectable in real time.</a:t>
            </a:r>
          </a:p>
          <a:p>
            <a:r>
              <a:rPr lang="en-IN" sz="1800" b="1" dirty="0"/>
              <a:t>Key Technologies</a:t>
            </a:r>
          </a:p>
          <a:p>
            <a:r>
              <a:rPr lang="en-IN" sz="1600" dirty="0"/>
              <a:t>ESP32 Microcontroller | TinyML (Edge Impulse SDK) | Sensor Fusion | NEO-6M GPS | MQTT / Wi-Fi | Cloud Dashboard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6DD0B-5AED-6801-2D16-ECDF8112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22-06-2026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EF410-956F-797B-C0DC-A65953A2E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84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2552A-DD7E-C870-2848-05C452A8B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Problem Statement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7B22B-6F5D-B030-3C63-4F787F896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600" dirty="0"/>
              <a:t>Construction quality fraud and the absence of real-time concrete verification pose serious risks to structural safety and public infrastructure. Existing solutions fail to provide immediate, tamper-proof, on-site testing at low cost.</a:t>
            </a:r>
          </a:p>
          <a:p>
            <a:r>
              <a:rPr lang="en-IN" sz="1800" b="1" dirty="0"/>
              <a:t>Key Challenges</a:t>
            </a:r>
          </a:p>
          <a:p>
            <a:r>
              <a:rPr lang="en-IN" sz="1600" dirty="0"/>
              <a:t>Delayed Testing: Conventional cube strength tests take 7 to 28 days in a laboratory, providing no real-time feedback during active pours.</a:t>
            </a:r>
          </a:p>
          <a:p>
            <a:r>
              <a:rPr lang="en-IN" sz="1600" dirty="0"/>
              <a:t>Material Fraud: Substandard concrete — with incorrect water-cement ratios, added impurities, or inadequate mixing — is routinely supplied without detection.</a:t>
            </a:r>
          </a:p>
          <a:p>
            <a:r>
              <a:rPr lang="en-IN" sz="1600" dirty="0"/>
              <a:t>No Location Traceability: Current inspection records lack GPS-verified timestamps, making it impossible to audit which batch was used at which site location.</a:t>
            </a:r>
          </a:p>
          <a:p>
            <a:r>
              <a:rPr lang="en-IN" sz="1600" dirty="0"/>
              <a:t>High Equipment Cost: Professional concrete analyzers cost ₹50,000 to ₹5,00,000, making them inaccessible to small and mid-scale contractors.</a:t>
            </a:r>
          </a:p>
          <a:p>
            <a:r>
              <a:rPr lang="en-IN" sz="1800" b="1" dirty="0"/>
              <a:t>Need</a:t>
            </a:r>
          </a:p>
          <a:p>
            <a:r>
              <a:rPr lang="en-IN" sz="1600" dirty="0"/>
              <a:t>An affordable, embedded IoT system capable of real-time concrete quality classification, GPS tagging, and secure cloud reporting — deployable by any site engineer without laboratory infrastructure.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4406D-30F6-E67B-43F9-DB22E880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22-06-2026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24C85-3C17-DC37-61A2-ECEFC845C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59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05E14-EA18-75E4-82E3-E9F711D0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Project Description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411AE-698A-DA77-2583-697C35776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600" dirty="0"/>
              <a:t>ConcreSense is a portable, battery-powered IoT device that performs instant on-site concrete quality verification using sensor fusion and TinyML inference — without any laboratory infrastructure.</a:t>
            </a:r>
          </a:p>
          <a:p>
            <a:r>
              <a:rPr lang="en-IN" sz="1800" b="1" dirty="0"/>
              <a:t>How It Works</a:t>
            </a:r>
          </a:p>
          <a:p>
            <a:r>
              <a:rPr lang="en-IN" sz="1600" dirty="0"/>
              <a:t>Sense: Multi-sensor array (load cell, moisture, temperature, accelerometer) captures fresh concrete properties in under 60 seconds.</a:t>
            </a:r>
          </a:p>
          <a:p>
            <a:r>
              <a:rPr lang="en-IN" sz="1600" dirty="0"/>
              <a:t>Classify: On-device TinyML model (trained via Edge Impulse) classifies the batch as GOOD, MARGINAL, or REJECT based on IS 456:2000 parameters.</a:t>
            </a:r>
          </a:p>
          <a:p>
            <a:r>
              <a:rPr lang="en-IN" sz="1600" dirty="0"/>
              <a:t>Tag: NEO-6M GPS module appends geographic coordinates and UTC timestamp to every test result.</a:t>
            </a:r>
          </a:p>
          <a:p>
            <a:r>
              <a:rPr lang="en-IN" sz="1600" dirty="0"/>
              <a:t>Report: Results are shown on an OLED display and transmitted via Wi-Fi (MQTT) to a secure cloud dashboard with real-time alerts, test history maps, and PDF export.</a:t>
            </a:r>
          </a:p>
          <a:p>
            <a:r>
              <a:rPr lang="en-IN" sz="1800" b="1" dirty="0"/>
              <a:t>Target Cost: Under ₹5,000 per unit | Target Classification Accuracy: ≥ 90%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C5164-9C7D-856D-0012-ACDBF3D9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22-06-2026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02D70-72E1-C1D5-E61F-5BC43FE3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84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23DE-006A-6D21-7A1B-81100D67F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Scope of the Proposed work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42FBF-3C19-FADB-A0F2-4D2D31489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Aim</a:t>
            </a:r>
          </a:p>
          <a:p>
            <a:r>
              <a:rPr lang="en-IN" sz="1600" dirty="0"/>
              <a:t>To design, develop, and validate an embedded IoT system (ConcreSense) that performs real-time, on-site concrete quality verification using TinyML on the ESP32 and delivers GPS-tagged results to a secure cloud dashboard to detect and prevent material fraud in construction.</a:t>
            </a:r>
          </a:p>
          <a:p>
            <a:r>
              <a:rPr lang="en-IN" sz="1800" b="1" dirty="0"/>
              <a:t>Scope of Work</a:t>
            </a:r>
          </a:p>
          <a:p>
            <a:r>
              <a:rPr lang="en-IN" sz="1600" dirty="0"/>
              <a:t>Hardware: Integrate load cell, capacitive moisture, temperature, and vibration sensors with ESP32 and GPS module into a portable, IP-rated enclosure.</a:t>
            </a:r>
          </a:p>
          <a:p>
            <a:r>
              <a:rPr lang="en-IN" sz="1600" dirty="0"/>
              <a:t>Machine Learning: Train and deploy a TinyML classification model on the ESP32 using Edge Impulse, targeting ≥ 90% accuracy across Good, Marginal, and Reject categories.</a:t>
            </a:r>
          </a:p>
          <a:p>
            <a:r>
              <a:rPr lang="en-IN" sz="1600" dirty="0"/>
              <a:t>Cloud Integration: Build an MQTT-connected dashboard for real-time alerts, geo-mapped test history, and report export; compliant with IS 456:2000 quality benchmarks.</a:t>
            </a:r>
          </a:p>
          <a:p>
            <a:r>
              <a:rPr lang="en-IN" sz="1800" b="1" dirty="0"/>
              <a:t>Future Scope</a:t>
            </a:r>
          </a:p>
          <a:p>
            <a:r>
              <a:rPr lang="en-IN" sz="1600" dirty="0"/>
              <a:t>Ultrasonic pulse velocity testing for hardened concrete | Blockchain-backed immutable audit trail | Multi-site fleet management portal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70EA2-B122-4403-A7C4-12DC32967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22-06-2026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4FBCF-98C0-5B59-27EC-1F608198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971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8A2C7-ECE5-50A2-EA22-8CB925FA9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F0263-EAE1-004B-AFE4-F952EC819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600" b="1" dirty="0"/>
              <a:t>[1] Nasr et al. (2021) — CNN for Concrete Crack Detection</a:t>
            </a:r>
          </a:p>
          <a:p>
            <a:r>
              <a:rPr lang="en-IN" sz="1500" dirty="0"/>
              <a:t>Achieved ~92% accuracy detecting cracks using image-based CNNs. Limitation: only addresses hardened concrete defects; cannot assess fresh concrete quality or fraud.</a:t>
            </a:r>
          </a:p>
          <a:p>
            <a:r>
              <a:rPr lang="en-IN" sz="1600" b="1" dirty="0"/>
              <a:t>[2] Cha et al. (2019) — Deep Learning for Structural Defect Detection</a:t>
            </a:r>
          </a:p>
          <a:p>
            <a:r>
              <a:rPr lang="en-IN" sz="1500" dirty="0"/>
              <a:t>Demonstrated TinyML feasibility on ARM Cortex-M edge devices for structural monitoring. Validated that lightweight neural networks can run inference on microcontrollers at low power.</a:t>
            </a:r>
          </a:p>
          <a:p>
            <a:r>
              <a:rPr lang="en-IN" sz="1600" b="1" dirty="0"/>
              <a:t>[3] ESP32-Based IoT for Construction Monitoring (2022)</a:t>
            </a:r>
          </a:p>
          <a:p>
            <a:r>
              <a:rPr lang="en-IN" sz="1500" dirty="0"/>
              <a:t>Real-time temperature and humidity monitoring during concrete curing using ESP32. Useful precedent but limited to environmental parameters; no quality classification or fraud detection.</a:t>
            </a:r>
          </a:p>
          <a:p>
            <a:r>
              <a:rPr lang="en-IN" sz="1600" b="1" dirty="0"/>
              <a:t>[4] Edge Impulse / TinyML Research (2023)</a:t>
            </a:r>
          </a:p>
          <a:p>
            <a:r>
              <a:rPr lang="en-IN" sz="1500" dirty="0"/>
              <a:t>Sensor-fusion TinyML models for construction material classification on edge devices achieved 88% accuracy. Confirms viability of on-device inference without cloud dependency.</a:t>
            </a:r>
          </a:p>
          <a:p>
            <a:r>
              <a:rPr lang="en-IN" sz="1600" b="1" dirty="0"/>
              <a:t>Research Gap</a:t>
            </a:r>
          </a:p>
          <a:p>
            <a:r>
              <a:rPr lang="en-IN" sz="1500" dirty="0"/>
              <a:t>No existing system combines multi-sensor fusion, on-device TinyML classification, GPS traceability, and a secure cloud dashboard in a single affordable device for fresh concrete quality verification at the pour site.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60FC9-5D5E-D1B8-5BD7-65EC6B92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22-06-2026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8D311-C9E8-1065-7BFB-9C33AE212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357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2F20F-996C-75D3-233A-2CF65D068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Hardware Component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EF7F3-3CB7-3DCB-8E90-B99710E23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600" b="1" dirty="0"/>
              <a:t>ESP32 Development Board</a:t>
            </a:r>
            <a:r>
              <a:rPr lang="en-IN" sz="1600" dirty="0"/>
              <a:t xml:space="preserve"> — Main microcontroller; dual-core 240 MHz, built-in Wi-Fi and Bluetooth, 520 KB SRAM for TinyML inference.</a:t>
            </a:r>
          </a:p>
          <a:p>
            <a:r>
              <a:rPr lang="en-IN" sz="1600" b="1" dirty="0"/>
              <a:t>Load Cell + HX711 Amplifier</a:t>
            </a:r>
            <a:r>
              <a:rPr lang="en-IN" sz="1600" dirty="0"/>
              <a:t xml:space="preserve"> — Measures compressive force and slump consistency of fresh concrete mix.</a:t>
            </a:r>
          </a:p>
          <a:p>
            <a:r>
              <a:rPr lang="en-IN" sz="1600" b="1" dirty="0"/>
              <a:t>Capacitive Moisture Sensor (FC-28)</a:t>
            </a:r>
            <a:r>
              <a:rPr lang="en-IN" sz="1600" dirty="0"/>
              <a:t xml:space="preserve"> — Detects water-cement ratio anomalies (excess water weakens concrete strength).</a:t>
            </a:r>
          </a:p>
          <a:p>
            <a:r>
              <a:rPr lang="en-IN" sz="1600" b="1" dirty="0"/>
              <a:t>DS18B20 Temperature Sensor</a:t>
            </a:r>
            <a:r>
              <a:rPr lang="en-IN" sz="1600" dirty="0"/>
              <a:t xml:space="preserve"> — Monitors concrete mix temperature; extreme temps affect curing and final strength.</a:t>
            </a:r>
          </a:p>
          <a:p>
            <a:r>
              <a:rPr lang="en-IN" sz="1600" b="1" dirty="0"/>
              <a:t>MPU-6050 (Accelerometer / Gyroscope)</a:t>
            </a:r>
            <a:r>
              <a:rPr lang="en-IN" sz="1600" dirty="0"/>
              <a:t xml:space="preserve"> — Captures vibration signatures during mixing to detect segregation or air voids.</a:t>
            </a:r>
          </a:p>
          <a:p>
            <a:r>
              <a:rPr lang="en-IN" sz="1600" b="1" dirty="0"/>
              <a:t>NEO-6M GPS Module</a:t>
            </a:r>
            <a:r>
              <a:rPr lang="en-IN" sz="1600" dirty="0"/>
              <a:t xml:space="preserve"> — Geo-tags every test with latitude, longitude, and UTC timestamp for audit traceability.</a:t>
            </a:r>
          </a:p>
          <a:p>
            <a:r>
              <a:rPr lang="en-IN" sz="1600" b="1" dirty="0"/>
              <a:t>OLED Display (SSD1306, 0.96”)</a:t>
            </a:r>
            <a:r>
              <a:rPr lang="en-IN" sz="1600" dirty="0"/>
              <a:t xml:space="preserve"> — On-device display of classification result (GOOD / MARGINAL / REJECT) for field engineer.</a:t>
            </a:r>
          </a:p>
          <a:p>
            <a:r>
              <a:rPr lang="en-IN" sz="1600" b="1" dirty="0"/>
              <a:t>Li-Ion Battery Pack (3.7 V, 5000 mAh) + TP4056 Charger</a:t>
            </a:r>
            <a:r>
              <a:rPr lang="en-IN" sz="1600" dirty="0"/>
              <a:t xml:space="preserve"> — Enables full-day field operation without mains power.</a:t>
            </a:r>
          </a:p>
          <a:p>
            <a:r>
              <a:rPr lang="en-IN" sz="1600" b="1" dirty="0"/>
              <a:t>3D-Printed IP54-Rated Enclosure</a:t>
            </a:r>
            <a:r>
              <a:rPr lang="en-IN" sz="1600" dirty="0"/>
              <a:t xml:space="preserve"> — Dust and splash resistant housing designed for rugged construction site conditions.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F1946-9482-8F30-D61C-AD0D89B1D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22-06-2026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551A6-385B-4923-FAE3-BAA471D9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477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EE1D2-B273-DF0C-5304-A3CB9ED4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Design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1BED5-A124-2853-21A8-DA47BBEFE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600" dirty="0"/>
              <a:t>The ConcreSense system follows a three-layer IoT architecture — Sensing, Processing, and Communication — all hosted on the ESP32.</a:t>
            </a:r>
          </a:p>
          <a:p>
            <a:r>
              <a:rPr lang="en-IN" sz="1800" b="1" dirty="0"/>
              <a:t>Layer 1 — Sensor Layer (Inputs)</a:t>
            </a:r>
          </a:p>
          <a:p>
            <a:r>
              <a:rPr lang="en-IN" sz="1600" dirty="0"/>
              <a:t>Load Cell (HX711) → ESP32 GPIO | Moisture Sensor → ESP32 ADC | DS18B20 → OneWire Bus | MPU-6050 → I²C Bus | NEO-6M GPS → UART</a:t>
            </a:r>
          </a:p>
          <a:p>
            <a:r>
              <a:rPr lang="en-IN" sz="1800" b="1" dirty="0"/>
              <a:t>Layer 2 — Processing Layer (ESP32 Core)</a:t>
            </a:r>
          </a:p>
          <a:p>
            <a:r>
              <a:rPr lang="en-IN" sz="1600" dirty="0"/>
              <a:t>Raw sensor data is pre-processed (normalization, feature extraction) by ESP32 Core 0. Core 1 runs the TinyML inference engine (Edge Impulse SDK) to classify the batch as GOOD, MARGINAL, or REJECT. GPS coordinates and timestamp are appended to the result payload.</a:t>
            </a:r>
          </a:p>
          <a:p>
            <a:r>
              <a:rPr lang="en-IN" sz="1800" b="1" dirty="0"/>
              <a:t>Layer 3 — Communication and Display Layer (Outputs)</a:t>
            </a:r>
          </a:p>
          <a:p>
            <a:r>
              <a:rPr lang="en-IN" sz="1600" dirty="0"/>
              <a:t>OLED Display: Immediate on-screen result for field engineer. Wi-Fi / MQTT: JSON payload transmitted to cloud broker (e.g., HiveMQ / AWS IoT). Dashboard: React-based web portal renders live map, result history, trend charts, and PDF export. Alert System: Automated email / SMS alert on REJECT classification.</a:t>
            </a:r>
          </a:p>
          <a:p>
            <a:r>
              <a:rPr lang="en-IN" sz="1600" b="1" dirty="0"/>
              <a:t>Full cycle — sensor read to cloud update: &lt; 5 seconds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C3BD1-05A0-C114-3824-A22E1DE1F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22-06-2026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F5297-F9B2-43BC-E08D-83131C171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278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44DF4-F332-7FCB-D182-25AAC29F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E9F48-BC40-72EF-86DE-62F096D9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600" dirty="0"/>
              <a:t>The project is planned over 12 weeks from component procurement to final demonstration and documentation.</a:t>
            </a:r>
          </a:p>
          <a:p>
            <a:r>
              <a:rPr lang="en-IN" sz="1600" b="1" dirty="0"/>
              <a:t>Week 1–2: Component Procurement and Hardware Setup</a:t>
            </a:r>
          </a:p>
          <a:p>
            <a:r>
              <a:rPr lang="en-IN" sz="1500" dirty="0"/>
              <a:t>Source ESP32, sensors, GPS module, display, and enclosure materials. Verify component specifications and set up development environment (Arduino IDE / PlatformIO, Edge Impulse).</a:t>
            </a:r>
          </a:p>
          <a:p>
            <a:r>
              <a:rPr lang="en-IN" sz="1600" b="1" dirty="0"/>
              <a:t>Week 3–4: Sensor Integration and Data Acquisition</a:t>
            </a:r>
          </a:p>
          <a:p>
            <a:r>
              <a:rPr lang="en-IN" sz="1500" dirty="0"/>
              <a:t>Interface all sensors with ESP32. Validate data readings against known concrete mixes. Build data logging pipeline for ML dataset collection.</a:t>
            </a:r>
          </a:p>
          <a:p>
            <a:r>
              <a:rPr lang="en-IN" sz="1600" b="1" dirty="0"/>
              <a:t>Week 5–6: Dataset Collection and Labelling</a:t>
            </a:r>
          </a:p>
          <a:p>
            <a:r>
              <a:rPr lang="en-IN" sz="1500" dirty="0"/>
              <a:t>Prepare concrete batches of varying quality (correct mix, excess water, sand substitution). Collect 200+ labelled sensor readings across GOOD, MARGINAL, and REJECT classes.</a:t>
            </a:r>
          </a:p>
          <a:p>
            <a:r>
              <a:rPr lang="en-IN" sz="1600" b="1" dirty="0"/>
              <a:t>Week 7–8: TinyML Model Training and Deployment</a:t>
            </a:r>
          </a:p>
          <a:p>
            <a:r>
              <a:rPr lang="en-IN" sz="1500" dirty="0"/>
              <a:t>Train classification model on Edge Impulse. Optimize for ESP32 SRAM constraints. Deploy quantized model to ESP32 firmware and test inference accuracy on holdout data.</a:t>
            </a:r>
          </a:p>
          <a:p>
            <a:r>
              <a:rPr lang="en-IN" sz="1600" b="1" dirty="0"/>
              <a:t>Week 9–10: GPS, Wi-Fi, Cloud Dashboard Integration</a:t>
            </a:r>
          </a:p>
          <a:p>
            <a:r>
              <a:rPr lang="en-IN" sz="1500" dirty="0"/>
              <a:t>Integrate GPS module, implement MQTT transmission, and build cloud dashboard with map view, history log, alerts, and PDF export.</a:t>
            </a:r>
          </a:p>
          <a:p>
            <a:r>
              <a:rPr lang="en-IN" sz="1600" b="1" dirty="0"/>
              <a:t>Week 11: Field Testing and Calibration</a:t>
            </a:r>
          </a:p>
          <a:p>
            <a:r>
              <a:rPr lang="en-IN" sz="1500" dirty="0"/>
              <a:t>Conduct field trials at a simulated construction site. Calibrate sensors, validate GPS accuracy, and stress-test the enclosure. Cross-check results against IS 456:2000 benchmarks.</a:t>
            </a:r>
          </a:p>
          <a:p>
            <a:r>
              <a:rPr lang="en-IN" sz="1600" b="1" dirty="0"/>
              <a:t>Week 12: Documentation and Final Review Presentation</a:t>
            </a:r>
          </a:p>
          <a:p>
            <a:r>
              <a:rPr lang="en-IN" sz="1500" dirty="0"/>
              <a:t>Complete project report, circuit diagrams, and code documentation. Prepare and deliver final demonstration to review panel.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B1074-C6B2-2A1D-7D78-3FADF2E8C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22-06-2026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BD213-BEC3-9A32-F49F-74DC7815D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869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89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 CONTENTS</vt:lpstr>
      <vt:lpstr>Introduction </vt:lpstr>
      <vt:lpstr>Problem Statement  </vt:lpstr>
      <vt:lpstr>Project Description  </vt:lpstr>
      <vt:lpstr>Aim and Scope of the Proposed work </vt:lpstr>
      <vt:lpstr>Literature Survey </vt:lpstr>
      <vt:lpstr>Hardware Component  </vt:lpstr>
      <vt:lpstr>Block Diagram Design </vt:lpstr>
      <vt:lpstr>Project Planning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Muthupandi G.</dc:creator>
  <cp:lastModifiedBy>Muthupandi G</cp:lastModifiedBy>
  <cp:revision>59</cp:revision>
  <dcterms:created xsi:type="dcterms:W3CDTF">2024-07-31T06:42:35Z</dcterms:created>
  <dcterms:modified xsi:type="dcterms:W3CDTF">2026-06-22T13:19:39Z</dcterms:modified>
</cp:coreProperties>
</file>